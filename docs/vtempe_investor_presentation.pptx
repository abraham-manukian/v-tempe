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FB8D8"/>
                </a:solidFill>
                <a:latin typeface="Calibri"/>
              </a:rPr>
              <a:t>V-TEMPE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974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Финансовая модель и условия для инвесторов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C4CE"/>
                </a:solidFill>
                <a:latin typeface="Calibri"/>
              </a:rPr>
              <a:t>Год 1: прогноз аудитории, прибыли и выплат инвесторам — на основе проверенных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F9AA3"/>
                </a:solidFill>
                <a:latin typeface="Calibri"/>
              </a:rPr>
              <a:t>Все цифры ниже — либо реальные обязательства инвесторов, либо источники из открытых данных (см. слайд «Источники»). Ничего не выдумано.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C4CE"/>
                </a:solidFill>
                <a:latin typeface="Calibri"/>
              </a:rPr>
              <a:t>РЕАЛЬНЫЕ ОБЯЗАТЕЛЬСТВА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Структура инвестиций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66160" cy="155448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2E6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2E6F9E"/>
                </a:solidFill>
                <a:latin typeface="Calibri"/>
              </a:rPr>
              <a:t>100 000 ₽</a:t>
            </a:r>
          </a:p>
          <a:p>
            <a:pPr algn="ctr"/>
            <a:r>
              <a:rPr sz="1100">
                <a:solidFill>
                  <a:srgbClr val="1F2A33"/>
                </a:solidFill>
                <a:latin typeface="Calibri"/>
              </a:rPr>
              <a:t>Инвестор 1 — разовый взнос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566160" cy="155448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2E6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2E6F9E"/>
                </a:solidFill>
                <a:latin typeface="Calibri"/>
              </a:rPr>
              <a:t>100 000 ₽</a:t>
            </a:r>
          </a:p>
          <a:p>
            <a:pPr algn="ctr"/>
            <a:r>
              <a:rPr sz="1100">
                <a:solidFill>
                  <a:srgbClr val="1F2A33"/>
                </a:solidFill>
                <a:latin typeface="Calibri"/>
              </a:rPr>
              <a:t>Инвестор 2 — разовый взнос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463040"/>
            <a:ext cx="3566160" cy="155448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D9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D98E3C"/>
                </a:solidFill>
                <a:latin typeface="Calibri"/>
              </a:rPr>
              <a:t>60 000–100 000 ₽/мес</a:t>
            </a:r>
          </a:p>
          <a:p>
            <a:pPr algn="ctr"/>
            <a:r>
              <a:rPr sz="1100">
                <a:solidFill>
                  <a:srgbClr val="1F2A33"/>
                </a:solidFill>
                <a:latin typeface="Calibri"/>
              </a:rPr>
              <a:t>Инвестор 3 — ежемесячно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Calibri"/>
              </a:rPr>
              <a:t>•  Курс на пересчёт в USD: 77 ₽ за $1 — среднее значение по ЦБ РФ / рыночным котировкам за неделю 06–12 июля 2026 (диапазон недели: 75.96–78.08 ₽). Курс — это переменная в модели, при его изменении все расчёты пересчитываются автоматически.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Calibri"/>
              </a:rPr>
              <a:t>•  Разовый капитал в месяц 1: $2,597 (2 × 100 000 ₽ ÷ 77)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Calibri"/>
              </a:rPr>
              <a:t>•  Регулярный бюджет: $1,039/мес (среднее 60–100 тыс ₽ ÷ 77), используется как есть — без искусственного роста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Calibri"/>
              </a:rPr>
              <a:t>•  Эти деньги учитываются в модели ОТДЕЛЬНО от собственной операционной прибыли компании — как маркетинговый бюджет роста, а не как расходы, которые должны окупаться из текущей выручки.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  <a:latin typeface="Calibri"/>
              </a:rPr>
              <a:t>Источник курса: Bloomberg USDRUB, Investing.com, Банк России (cbr.ru), Yahoo Finance — данные на 12–13.07.2026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C4CE"/>
                </a:solidFill>
                <a:latin typeface="Calibri"/>
              </a:rPr>
              <a:t>ПРОВЕРЕНО В ИНТЕРНЕТЕ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Ключевые допущения модели — с источниками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371600"/>
          <a:ext cx="114300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371600"/>
                <a:gridCol w="7589520"/>
              </a:tblGrid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Параметр</a:t>
                      </a:r>
                    </a:p>
                  </a:txBody>
                  <a:tcPr>
                    <a:solidFill>
                      <a:srgbClr val="1F2A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Значение</a:t>
                      </a:r>
                    </a:p>
                  </a:txBody>
                  <a:tcPr>
                    <a:solidFill>
                      <a:srgbClr val="1F2A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Источник</a:t>
                      </a:r>
                    </a:p>
                  </a:txBody>
                  <a:tcPr>
                    <a:solidFill>
                      <a:srgbClr val="1F2A33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A33"/>
                          </a:solidFill>
                        </a:rPr>
                        <a:t>Курс USD/RUB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3"/>
                          </a:solidFill>
                        </a:rPr>
                        <a:t>77 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3"/>
                          </a:solidFill>
                        </a:rPr>
                        <a:t>ЦБ РФ / биржевые котировки, неделя 06–12.07.2026 (75.96–78.08)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A33"/>
                          </a:solidFill>
                        </a:rPr>
                        <a:t>Комиссия магазинов приложений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3"/>
                          </a:solidFill>
                        </a:rPr>
                        <a:t>15%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3"/>
                          </a:solidFill>
                        </a:rPr>
                        <a:t>Apple Small Business Program (&lt;$1M/год); Google Play — 15% на первый $1M/год автоматически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A33"/>
                          </a:solidFill>
                        </a:rPr>
                        <a:t>Налог на прибыль (Армения)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3"/>
                          </a:solidFill>
                        </a:rP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3"/>
                          </a:solidFill>
                        </a:rPr>
                        <a:t>Стандартная ставка налога на прибыль в Армении (PwC Tax Summaries, 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A33"/>
                          </a:solidFill>
                        </a:rPr>
                        <a:t>Спец. режим для IT (альтернатива)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3"/>
                          </a:solidFill>
                        </a:rPr>
                        <a:t>1% с оборота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3"/>
                          </a:solidFill>
                        </a:rPr>
                        <a:t>Армения: льготный режим для tech-компаний с выручкой ≤ ~300 000 $/год, действует 2025–2031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A33"/>
                          </a:solidFill>
                        </a:rPr>
                        <a:t>Apple Developer 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3"/>
                          </a:solidFill>
                        </a:rPr>
                        <a:t>$99/год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3"/>
                          </a:solidFill>
                        </a:rPr>
                        <a:t>Официальная цена Apple Developer Program, актуально на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A33"/>
                          </a:solidFill>
                        </a:rPr>
                        <a:t>Google Play — регистрация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3"/>
                          </a:solidFill>
                        </a:rPr>
                        <a:t>$25 разово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3"/>
                          </a:solidFill>
                        </a:rPr>
                        <a:t>Официальная цена Google Play Console, разовый платёж без продления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A33"/>
                          </a:solidFill>
                        </a:rPr>
                        <a:t>Цена установки (CPI), fitness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3"/>
                          </a:solidFill>
                        </a:rPr>
                        <a:t>$3.00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3"/>
                          </a:solidFill>
                        </a:rPr>
                        <a:t>Бенчмарк 2026: Health &amp; Fitness CPI $4.30–5.50 (Meta+Google блендед), Google UAC отдельно $1.50–4.50 — взято консервативное значение по Google-каналу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A33"/>
                          </a:solidFill>
                        </a:rPr>
                        <a:t>Конверсия установка → подписка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3"/>
                          </a:solidFill>
                        </a:rPr>
                        <a:t>20%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3"/>
                          </a:solidFill>
                        </a:rPr>
                        <a:t>Консервативная оценка. Бенчмарки по trial-старту выше (35–62%), но это % от тех, кто начал триал, а триал начинают лишь 18–28% установивших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A33"/>
                          </a:solidFill>
                        </a:rPr>
                        <a:t>Отток подписчиков (churn)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3"/>
                          </a:solidFill>
                        </a:rPr>
                        <a:t>10%/мес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3"/>
                          </a:solidFill>
                        </a:rPr>
                        <a:t>Медиана по fitness-подпискам 2026: 9–13%/мес (топ-квартиль — 4–6%/мес); взята медиана, не оптимистичный сценарий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  <a:latin typeface="Calibri"/>
              </a:rPr>
              <a:t>LLM-затраты ($0.85/активный пользователь/мес) — из реальных данных биллинга OpenRouter; сверено с официальной ценой Gemini 2.5 Flash: $0.30/млн вход. токенов, $2.50/млн исход.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C4CE"/>
                </a:solidFill>
                <a:latin typeface="Calibri"/>
              </a:rPr>
              <a:t>ПРОГНОЗ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Рост аудитории — 12 месяцев</a:t>
            </a:r>
          </a:p>
        </p:txBody>
      </p:sp>
      <p:pic>
        <p:nvPicPr>
          <p:cNvPr id="5" name="Picture 4" descr="chart_aud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8229600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052560" y="1463040"/>
            <a:ext cx="2651760" cy="118872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3E9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3E9C5A"/>
                </a:solidFill>
                <a:latin typeface="Calibri"/>
              </a:rPr>
              <a:t>1,416</a:t>
            </a:r>
          </a:p>
          <a:p>
            <a:pPr algn="ctr"/>
            <a:r>
              <a:rPr sz="1100">
                <a:solidFill>
                  <a:srgbClr val="1F2A33"/>
                </a:solidFill>
                <a:latin typeface="Calibri"/>
              </a:rPr>
              <a:t>Платящих на конец года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2788920"/>
            <a:ext cx="2651760" cy="118872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2E6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2E6F9E"/>
                </a:solidFill>
                <a:latin typeface="Calibri"/>
              </a:rPr>
              <a:t>11,770</a:t>
            </a:r>
          </a:p>
          <a:p>
            <a:pPr algn="ctr"/>
            <a:r>
              <a:rPr sz="1100">
                <a:solidFill>
                  <a:srgbClr val="1F2A33"/>
                </a:solidFill>
                <a:latin typeface="Calibri"/>
              </a:rPr>
              <a:t>Установок за год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4114800"/>
            <a:ext cx="2651760" cy="118872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D9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D98E3C"/>
                </a:solidFill>
                <a:latin typeface="Calibri"/>
              </a:rPr>
              <a:t>$62,040</a:t>
            </a:r>
          </a:p>
          <a:p>
            <a:pPr algn="ctr"/>
            <a:r>
              <a:rPr sz="1100">
                <a:solidFill>
                  <a:srgbClr val="1F2A33"/>
                </a:solidFill>
                <a:latin typeface="Calibri"/>
              </a:rPr>
              <a:t>ARR на конец года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  <a:latin typeface="Calibri"/>
              </a:rPr>
              <a:t>Органический рост — рабочее допущение (не источник, зависит от вашего ASO/запуска). Платный рост = маркетинговый бюджет ÷ CPI ($3.00).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C4CE"/>
                </a:solidFill>
                <a:latin typeface="Calibri"/>
              </a:rPr>
              <a:t>ПРОГНОЗ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Операционная прибыль vs инвестиции в маркетинг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Операционная прибыль — это прибыль САМОЙ КОМПАНИИ, без учёта денег инвесторов на маркетинг</a:t>
            </a:r>
          </a:p>
        </p:txBody>
      </p:sp>
      <p:pic>
        <p:nvPicPr>
          <p:cNvPr id="6" name="Picture 5" descr="chart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8229600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052560" y="1691640"/>
            <a:ext cx="2651760" cy="118872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3E9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3E9C5A"/>
                </a:solidFill>
                <a:latin typeface="Calibri"/>
              </a:rPr>
              <a:t>$9,812</a:t>
            </a:r>
          </a:p>
          <a:p>
            <a:pPr algn="ctr"/>
            <a:r>
              <a:rPr sz="1100">
                <a:solidFill>
                  <a:srgbClr val="1F2A33"/>
                </a:solidFill>
                <a:latin typeface="Calibri"/>
              </a:rPr>
              <a:t>Опер. прибыль за год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3017520"/>
            <a:ext cx="2651760" cy="118872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2E6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2E6F9E"/>
                </a:solidFill>
                <a:latin typeface="Calibri"/>
              </a:rPr>
              <a:t>Месяц 5</a:t>
            </a:r>
          </a:p>
          <a:p>
            <a:pPr algn="ctr"/>
            <a:r>
              <a:rPr sz="1100">
                <a:solidFill>
                  <a:srgbClr val="1F2A33"/>
                </a:solidFill>
                <a:latin typeface="Calibri"/>
              </a:rPr>
              <a:t>Выход в накоп. плюс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4343400"/>
            <a:ext cx="2651760" cy="118872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D9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D98E3C"/>
                </a:solidFill>
                <a:latin typeface="Calibri"/>
              </a:rPr>
              <a:t>$15,065</a:t>
            </a:r>
          </a:p>
          <a:p>
            <a:pPr algn="ctr"/>
            <a:r>
              <a:rPr sz="1100">
                <a:solidFill>
                  <a:srgbClr val="1F2A33"/>
                </a:solidFill>
                <a:latin typeface="Calibri"/>
              </a:rPr>
              <a:t>Инвест. в маркетинг за год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  <a:latin typeface="Calibri"/>
              </a:rPr>
              <a:t>Собственные операционные расходы (Apple/Google, инфраструктура) покрываются из выручки компании; маркетинг — отдельно, из капитала инвесторов.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C4CE"/>
                </a:solidFill>
                <a:latin typeface="Calibri"/>
              </a:rPr>
              <a:t>РЕАЛЬНЫЕ ЦИФРЫ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Юнит-экономика — честно, без прикрас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651760" cy="137160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2E6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2E6F9E"/>
                </a:solidFill>
                <a:latin typeface="Calibri"/>
              </a:rPr>
              <a:t>$15</a:t>
            </a:r>
          </a:p>
          <a:p>
            <a:pPr algn="ctr"/>
            <a:r>
              <a:rPr sz="1100">
                <a:solidFill>
                  <a:srgbClr val="1F2A33"/>
                </a:solidFill>
                <a:latin typeface="Calibri"/>
              </a:rPr>
              <a:t>CAC (цена привлечения платящего)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463040"/>
            <a:ext cx="2651760" cy="137160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2E6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2E6F9E"/>
                </a:solidFill>
                <a:latin typeface="Calibri"/>
              </a:rPr>
              <a:t>$23</a:t>
            </a:r>
          </a:p>
          <a:p>
            <a:pPr algn="ctr"/>
            <a:r>
              <a:rPr sz="1100">
                <a:solidFill>
                  <a:srgbClr val="1F2A33"/>
                </a:solidFill>
                <a:latin typeface="Calibri"/>
              </a:rPr>
              <a:t>LTV на подписчика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2651760" cy="137160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C0504D"/>
                </a:solidFill>
                <a:latin typeface="Calibri"/>
              </a:rPr>
              <a:t>1.56x</a:t>
            </a:r>
          </a:p>
          <a:p>
            <a:pPr algn="ctr"/>
            <a:r>
              <a:rPr sz="1100">
                <a:solidFill>
                  <a:srgbClr val="1F2A33"/>
                </a:solidFill>
                <a:latin typeface="Calibri"/>
              </a:rPr>
              <a:t>LTV : CAC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463040"/>
            <a:ext cx="2743200" cy="137160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D9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D98E3C"/>
                </a:solidFill>
                <a:latin typeface="Calibri"/>
              </a:rPr>
              <a:t>6.4 мес.</a:t>
            </a:r>
          </a:p>
          <a:p>
            <a:pPr algn="ctr"/>
            <a:r>
              <a:rPr sz="1100">
                <a:solidFill>
                  <a:srgbClr val="1F2A33"/>
                </a:solidFill>
                <a:latin typeface="Calibri"/>
              </a:rPr>
              <a:t>Окупаемость CAC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11247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Calibri"/>
              </a:rPr>
              <a:t>•  При консервативном, но реалистичном CPI ($3.00) и конверсии (20%) LTV:CAC = 1.56x — НИЖЕ здорового ориентира ≥3x. Это честная картина при текущих ставках CPI/конверсии/оттока, взятых из отраслевых бенчмарков, а не оптимистичных прикидок.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Calibri"/>
              </a:rPr>
              <a:t>•  Это не значит, что экономика не работает — значит, что для здорового роста нужно снижать CPI (оптимизация каналов, органика/ASO) и/или повышать конверсию (пейволл, онбординг) быстрее, чем наращивать платный трафик.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Calibri"/>
              </a:rPr>
              <a:t>•  Решение: использовать инвестиционный бюджет в первую очередь на тестирование каналов и удешевление CPI, не на агрессивное масштабирование при текущей unit-экономике.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  <a:latin typeface="Calibri"/>
              </a:rPr>
              <a:t>CAC = CPI ÷ конверсия. LTV = валовая прибыль с подписчика/мес ÷ отток. Бенчмарк LTV:CAC ≥3x — общепринятый ориентир SaaS/mobile subscription индустрии.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C4CE"/>
                </a:solidFill>
                <a:latin typeface="Calibri"/>
              </a:rPr>
              <a:t>СХЕМА ВЫПЛАТ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Условия для инвесторов: доля от чистой прибыли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1F2A33"/>
                </a:solidFill>
                <a:latin typeface="Calibri"/>
              </a:rPr>
              <a:t>•  Инвестор 1 — 5% от чистой прибыли компании (после всех вычетов: налоги, комиссии магазинов, COGS)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1F2A33"/>
                </a:solidFill>
                <a:latin typeface="Calibri"/>
              </a:rPr>
              <a:t>•  Инвестор 2 — 5% от чистой прибыли компании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1F2A33"/>
                </a:solidFill>
                <a:latin typeface="Calibri"/>
              </a:rPr>
              <a:t>•  Инвестор 3 — 10% от чистой прибыли компании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1F2A33"/>
                </a:solidFill>
                <a:latin typeface="Calibri"/>
              </a:rPr>
              <a:t>•  Расчёт — ЕЖЕМЕСЯЧНО, от прибыли конкретно этого месяца. Если месяц убыточный — выплата 0₽, отрицательного переноса на будущее нет.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1F2A33"/>
                </a:solidFill>
                <a:latin typeface="Calibri"/>
              </a:rPr>
              <a:t>•  Выплаты продолжаются, ПОКА инвестор не вернёт вложенную сумму (кумулятивно). После полного возврата — выплаты по этому инвестору останавливаются, и условия пересматриваются заново.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  <a:latin typeface="Calibri"/>
              </a:rPr>
              <a:t>Условия зафиксированы по договорённости с инвесторами (не внешний источник) — модельно проверено на 12-месячном прогнозе ниже.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C4CE"/>
                </a:solidFill>
                <a:latin typeface="Calibri"/>
              </a:rPr>
              <a:t>ПРОГНОЗ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Прогноз выплат инвесторам — 12 месяцев</a:t>
            </a:r>
          </a:p>
        </p:txBody>
      </p:sp>
      <p:pic>
        <p:nvPicPr>
          <p:cNvPr id="5" name="Picture 4" descr="chart_payo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949440" cy="32430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417320"/>
            <a:ext cx="4069080" cy="105156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2E6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2E6F9E"/>
                </a:solidFill>
                <a:latin typeface="Calibri"/>
              </a:rPr>
              <a:t>$545</a:t>
            </a:r>
          </a:p>
          <a:p>
            <a:pPr algn="ctr"/>
            <a:r>
              <a:rPr sz="1100">
                <a:solidFill>
                  <a:srgbClr val="1F2A33"/>
                </a:solidFill>
                <a:latin typeface="Calibri"/>
              </a:rPr>
              <a:t>Инвестор 1 — выплачено за год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2606040"/>
            <a:ext cx="4069080" cy="105156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2E6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2E6F9E"/>
                </a:solidFill>
                <a:latin typeface="Calibri"/>
              </a:rPr>
              <a:t>$545</a:t>
            </a:r>
          </a:p>
          <a:p>
            <a:pPr algn="ctr"/>
            <a:r>
              <a:rPr sz="1100">
                <a:solidFill>
                  <a:srgbClr val="1F2A33"/>
                </a:solidFill>
                <a:latin typeface="Calibri"/>
              </a:rPr>
              <a:t>Инвестор 2 — выплачено за год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3794760"/>
            <a:ext cx="4069080" cy="105156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D9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2600" b="1">
                <a:solidFill>
                  <a:srgbClr val="D98E3C"/>
                </a:solidFill>
                <a:latin typeface="Calibri"/>
              </a:rPr>
              <a:t>$1,091</a:t>
            </a:r>
          </a:p>
          <a:p>
            <a:pPr algn="ctr"/>
            <a:r>
              <a:rPr sz="1100">
                <a:solidFill>
                  <a:srgbClr val="1F2A33"/>
                </a:solidFill>
                <a:latin typeface="Calibri"/>
              </a:rPr>
              <a:t>Инвестор 3 — выплачено за год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5029200"/>
            <a:ext cx="4069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•  За 12 месяцев ни один инвестор ещё не окупает вложение полностью — это ожидаемо на старте.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  <a:latin typeface="Calibri"/>
              </a:rPr>
              <a:t>Расчёт — лист «Investor Payouts» в Excel-модели, месяц-к-месяцу, с накопительным учётом возврата капитала.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C4CE"/>
                </a:solidFill>
                <a:latin typeface="Calibri"/>
              </a:rPr>
              <a:t>ПРОЗРАЧНОСТЬ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Источники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1F2A33"/>
                </a:solidFill>
                <a:latin typeface="Calibri"/>
              </a:rPr>
              <a:t>•  Курс USD/RUB (77 ₽): Bloomberg (USDRUB:CUR), Investing.com, Банк России (cbr.ru/eng/currency_base/daily), Yahoo Finance — данные за 06–13.07.2026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1F2A33"/>
                </a:solidFill>
                <a:latin typeface="Calibri"/>
              </a:rPr>
              <a:t>•  Налог на прибыль Армении (18%) и льготный IT-режим (1% с оборота): PwC Worldwide Tax Summaries — Armenia; Profin Consulting «Corporate Tax in Armenia 2026»; ResidentArmenia «Armenia IT Tax Regime 2026»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1F2A33"/>
                </a:solidFill>
                <a:latin typeface="Calibri"/>
              </a:rPr>
              <a:t>•  Комиссия App Store (15%): официальная документация Apple Developer — Small Business Program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1F2A33"/>
                </a:solidFill>
                <a:latin typeface="Calibri"/>
              </a:rPr>
              <a:t>•  Комиссия Google Play (15% на первый $1M/год): официальная политика Google Play, действует с июля 2021, подтверждена актуальной на 2026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1F2A33"/>
                </a:solidFill>
                <a:latin typeface="Calibri"/>
              </a:rPr>
              <a:t>•  Apple Developer Program ($99/год): developer.apple.com/support/compare-memberships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1F2A33"/>
                </a:solidFill>
                <a:latin typeface="Calibri"/>
              </a:rPr>
              <a:t>•  Google Play регистрация ($25 разово): support.google.com/googleplay/android-developer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1F2A33"/>
                </a:solidFill>
                <a:latin typeface="Calibri"/>
              </a:rPr>
              <a:t>•  Цена Gemini 2.5 Flash через OpenRouter ($0.30/$2.50 за млн токенов): openrouter.ai/google/gemini-2.5-flash — использовано для сверки с реальными данными биллинга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1F2A33"/>
                </a:solidFill>
                <a:latin typeface="Calibri"/>
              </a:rPr>
              <a:t>•  Бенчмарки CPI, конверсии и оттока для fitness-приложений (2026): отраслевые отчёты — Business of Apps (Cost per Install), Adapty (Trial Conversion &amp; Health/Fitness Subscription Benchmarks), RevenueCat (State of Subscription Apps 2026), LifecycleArchitect (Fitness App Churn Benchmarks)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  <a:latin typeface="Calibri"/>
              </a:rPr>
              <a:t>Полные названия отчётов и ссылки — в текстовом сопровождении к этой презентации. Все цифры, не имеющие внешнего источника, явно помечены в Excel-модели как «рабочее допущение».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